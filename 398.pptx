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5"/>
  </p:notesMasterIdLst>
  <p:sldIdLst>
    <p:sldId id="256" r:id="rId2"/>
    <p:sldId id="258" r:id="rId3"/>
    <p:sldId id="260" r:id="rId4"/>
    <p:sldId id="261" r:id="rId5"/>
    <p:sldId id="288" r:id="rId6"/>
    <p:sldId id="263" r:id="rId7"/>
    <p:sldId id="290" r:id="rId8"/>
    <p:sldId id="267" r:id="rId9"/>
    <p:sldId id="264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4" r:id="rId23"/>
    <p:sldId id="303" r:id="rId24"/>
  </p:sldIdLst>
  <p:sldSz cx="9144000" cy="5143500" type="screen16x9"/>
  <p:notesSz cx="6858000" cy="9144000"/>
  <p:embeddedFontLst>
    <p:embeddedFont>
      <p:font typeface="Albert Sans" panose="020B0604020202020204" charset="0"/>
      <p:regular r:id="rId26"/>
      <p:bold r:id="rId27"/>
      <p:italic r:id="rId28"/>
      <p:boldItalic r:id="rId29"/>
    </p:embeddedFont>
    <p:embeddedFont>
      <p:font typeface="Anaheim" panose="020B0604020202020204" charset="0"/>
      <p:regular r:id="rId30"/>
      <p:bold r:id="rId31"/>
    </p:embeddedFont>
    <p:embeddedFont>
      <p:font typeface="Bahnschrift SemiBold SemiConden" panose="020B0502040204020203" pitchFamily="34" charset="0"/>
      <p:bold r:id="rId32"/>
    </p:embeddedFont>
    <p:embeddedFont>
      <p:font typeface="Bebas Neue" panose="020B0606020202050201" pitchFamily="34" charset="0"/>
      <p:regular r:id="rId33"/>
    </p:embeddedFont>
    <p:embeddedFont>
      <p:font typeface="Montserrat Medium" panose="00000600000000000000" pitchFamily="2" charset="-52"/>
      <p:regular r:id="rId34"/>
      <p:bold r:id="rId35"/>
      <p:italic r:id="rId36"/>
      <p:boldItalic r:id="rId37"/>
    </p:embeddedFont>
    <p:embeddedFont>
      <p:font typeface="Nunito Light" pitchFamily="2" charset="-52"/>
      <p:regular r:id="rId38"/>
      <p:italic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  <p:embeddedFont>
      <p:font typeface="Open Sans Light" panose="020B0306030504020204" pitchFamily="34" charset="0"/>
      <p:regular r:id="rId44"/>
      <p:italic r:id="rId45"/>
    </p:embeddedFont>
    <p:embeddedFont>
      <p:font typeface="Raleway" pitchFamily="2" charset="-52"/>
      <p:regular r:id="rId46"/>
      <p:bold r:id="rId47"/>
      <p:italic r:id="rId48"/>
      <p:boldItalic r:id="rId49"/>
    </p:embeddedFont>
    <p:embeddedFont>
      <p:font typeface="Zalando Sans SemiExpanded" panose="020B0604020202020204" charset="0"/>
      <p:regular r:id="rId50"/>
      <p:bold r:id="rId51"/>
      <p:italic r:id="rId52"/>
      <p:boldItalic r:id="rId53"/>
    </p:embeddedFont>
    <p:embeddedFont>
      <p:font typeface="Zalando Sans SemiExpanded Medium" panose="020B060402020202020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8BF939-77EF-4E1F-96A1-861D6632DE49}">
  <a:tblStyle styleId="{918BF939-77EF-4E1F-96A1-861D6632DE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5" autoAdjust="0"/>
  </p:normalViewPr>
  <p:slideViewPr>
    <p:cSldViewPr snapToGrid="0">
      <p:cViewPr varScale="1">
        <p:scale>
          <a:sx n="102" d="100"/>
          <a:sy n="102" d="100"/>
        </p:scale>
        <p:origin x="8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font" Target="fonts/font25.fntdata"/><Relationship Id="rId55" Type="http://schemas.openxmlformats.org/officeDocument/2006/relationships/font" Target="fonts/font3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font" Target="fonts/font28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56" Type="http://schemas.openxmlformats.org/officeDocument/2006/relationships/font" Target="fonts/font31.fntdata"/><Relationship Id="rId8" Type="http://schemas.openxmlformats.org/officeDocument/2006/relationships/slide" Target="slides/slide7.xml"/><Relationship Id="rId51" Type="http://schemas.openxmlformats.org/officeDocument/2006/relationships/font" Target="fonts/font2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54" Type="http://schemas.openxmlformats.org/officeDocument/2006/relationships/font" Target="fonts/font29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Relationship Id="rId57" Type="http://schemas.openxmlformats.org/officeDocument/2006/relationships/font" Target="fonts/font32.fntdata"/><Relationship Id="rId10" Type="http://schemas.openxmlformats.org/officeDocument/2006/relationships/slide" Target="slides/slide9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font" Target="fonts/font27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еорги Георгиев" userId="80018e49f21a4ca5" providerId="LiveId" clId="{D7DB6D91-61B2-4966-B91A-C963233928E8}"/>
    <pc:docChg chg="modSld">
      <pc:chgData name="Георги Георгиев" userId="80018e49f21a4ca5" providerId="LiveId" clId="{D7DB6D91-61B2-4966-B91A-C963233928E8}" dt="2026-03-06T08:16:07.749" v="2" actId="1076"/>
      <pc:docMkLst>
        <pc:docMk/>
      </pc:docMkLst>
      <pc:sldChg chg="modSp mod">
        <pc:chgData name="Георги Георгиев" userId="80018e49f21a4ca5" providerId="LiveId" clId="{D7DB6D91-61B2-4966-B91A-C963233928E8}" dt="2026-03-06T08:16:07.749" v="2" actId="1076"/>
        <pc:sldMkLst>
          <pc:docMk/>
          <pc:sldMk cId="3511019179" sldId="302"/>
        </pc:sldMkLst>
        <pc:spChg chg="mod">
          <ac:chgData name="Георги Георгиев" userId="80018e49f21a4ca5" providerId="LiveId" clId="{D7DB6D91-61B2-4966-B91A-C963233928E8}" dt="2026-03-06T08:16:02.724" v="1" actId="20577"/>
          <ac:spMkLst>
            <pc:docMk/>
            <pc:sldMk cId="3511019179" sldId="302"/>
            <ac:spMk id="3" creationId="{3AA61538-3E10-1DE6-CDD7-5CDB354F359B}"/>
          </ac:spMkLst>
        </pc:spChg>
        <pc:picChg chg="mod">
          <ac:chgData name="Георги Георгиев" userId="80018e49f21a4ca5" providerId="LiveId" clId="{D7DB6D91-61B2-4966-B91A-C963233928E8}" dt="2026-03-06T08:16:07.749" v="2" actId="1076"/>
          <ac:picMkLst>
            <pc:docMk/>
            <pc:sldMk cId="3511019179" sldId="302"/>
            <ac:picMk id="4" creationId="{062B6D50-7EEB-E7CD-C770-1D79AC5F7A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4160B3F1-47F7-C5A7-1F48-43F6F46D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3B6DC3D6-2577-BC6D-A565-74CF4D8EE7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4437CA05-3FB9-7A02-1B92-95093F320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448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F54DD145-4585-76B1-C2AD-77DFE501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E03FA792-0C59-8AFE-7E7F-75160D546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8DB4B6CB-88B2-9282-290B-8E349D9F1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413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1D2E5F9F-75A5-3017-DA7A-AE680B14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186594CE-B9A9-4219-B409-72039283B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D822BAA8-D787-23A0-334F-D52E90755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2176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91D07F2D-A386-DA5E-4C6E-CAE93CBC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4dda1946d_6_322:notes">
            <a:extLst>
              <a:ext uri="{FF2B5EF4-FFF2-40B4-BE49-F238E27FC236}">
                <a16:creationId xmlns:a16="http://schemas.microsoft.com/office/drawing/2014/main" id="{447F586C-5007-C298-F7E6-E54CDEB45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4dda1946d_6_322:notes">
            <a:extLst>
              <a:ext uri="{FF2B5EF4-FFF2-40B4-BE49-F238E27FC236}">
                <a16:creationId xmlns:a16="http://schemas.microsoft.com/office/drawing/2014/main" id="{00BEBF66-5EF4-BFBB-53D3-E4F3FC31C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012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601A8985-89AD-C902-37AA-8A6E79DF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449868BC-B409-3B77-39C6-2E69C41E3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97CBAF78-0817-3490-42FC-E6E42E7E8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968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2EF04C0-7CB3-C908-EF9D-60541BF5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54dda1946d_6_344:notes">
            <a:extLst>
              <a:ext uri="{FF2B5EF4-FFF2-40B4-BE49-F238E27FC236}">
                <a16:creationId xmlns:a16="http://schemas.microsoft.com/office/drawing/2014/main" id="{7AF22181-5F3F-9FB1-0E26-4CC2C798E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54dda1946d_6_344:notes">
            <a:extLst>
              <a:ext uri="{FF2B5EF4-FFF2-40B4-BE49-F238E27FC236}">
                <a16:creationId xmlns:a16="http://schemas.microsoft.com/office/drawing/2014/main" id="{32F892AD-6012-34AC-A617-9911F3355E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962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44B03941-8F31-4A57-FD61-8CD788D4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DA42D9F0-781E-F60E-2296-C6C3DE9C9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E5C9AC66-19D9-1B92-3AB7-A98BD0C71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5968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F49F738F-0626-A424-1854-908C7C21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5260bdd85_0_256:notes">
            <a:extLst>
              <a:ext uri="{FF2B5EF4-FFF2-40B4-BE49-F238E27FC236}">
                <a16:creationId xmlns:a16="http://schemas.microsoft.com/office/drawing/2014/main" id="{F286BA34-AC9C-4F8B-BA10-FCA3FC822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5260bdd85_0_256:notes">
            <a:extLst>
              <a:ext uri="{FF2B5EF4-FFF2-40B4-BE49-F238E27FC236}">
                <a16:creationId xmlns:a16="http://schemas.microsoft.com/office/drawing/2014/main" id="{78650D6F-4F80-FD94-71E6-301E5E8F1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82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B3CB120C-1EF3-A7AE-70A5-9E2BCCDC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ECE297EF-F98C-E027-E50B-547245F2C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BD01F6B7-3BF3-DACA-D4CC-A82FFF6CB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949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0DE60C2-83D1-8EE2-8380-159FC64B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4dda1946d_6_322:notes">
            <a:extLst>
              <a:ext uri="{FF2B5EF4-FFF2-40B4-BE49-F238E27FC236}">
                <a16:creationId xmlns:a16="http://schemas.microsoft.com/office/drawing/2014/main" id="{F2CBDA6B-07F6-37DE-9B90-D372C106E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4dda1946d_6_322:notes">
            <a:extLst>
              <a:ext uri="{FF2B5EF4-FFF2-40B4-BE49-F238E27FC236}">
                <a16:creationId xmlns:a16="http://schemas.microsoft.com/office/drawing/2014/main" id="{A1DC7AAE-4EF1-3B66-6FE2-37AFAB3EA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8873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DE383CB7-3F3F-7A63-65AA-FC08B081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17137641-AC55-A5B0-82D3-FE3F2D19C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65215A2F-7220-43C3-28A2-7615655F4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6270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2925B0F-4365-4634-FF81-E4DE687D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54dda1946d_6_344:notes">
            <a:extLst>
              <a:ext uri="{FF2B5EF4-FFF2-40B4-BE49-F238E27FC236}">
                <a16:creationId xmlns:a16="http://schemas.microsoft.com/office/drawing/2014/main" id="{37DA5FF1-46EA-A2E6-4C63-8235EE5EC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54dda1946d_6_344:notes">
            <a:extLst>
              <a:ext uri="{FF2B5EF4-FFF2-40B4-BE49-F238E27FC236}">
                <a16:creationId xmlns:a16="http://schemas.microsoft.com/office/drawing/2014/main" id="{DCE0F0B0-B641-CFF7-E8E5-6465B6470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561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6F4B2EA2-C6DC-36B5-7CCD-BBA897BF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dda1946d_6_308:notes">
            <a:extLst>
              <a:ext uri="{FF2B5EF4-FFF2-40B4-BE49-F238E27FC236}">
                <a16:creationId xmlns:a16="http://schemas.microsoft.com/office/drawing/2014/main" id="{D9CE1F6E-3607-7527-56A2-711AB3B57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dda1946d_6_308:notes">
            <a:extLst>
              <a:ext uri="{FF2B5EF4-FFF2-40B4-BE49-F238E27FC236}">
                <a16:creationId xmlns:a16="http://schemas.microsoft.com/office/drawing/2014/main" id="{FC9B77BB-B0AC-97C6-4344-757AA29AC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1693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3F7C520D-0C1C-CAD1-29F3-F08D6B55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5260bdd85_0_256:notes">
            <a:extLst>
              <a:ext uri="{FF2B5EF4-FFF2-40B4-BE49-F238E27FC236}">
                <a16:creationId xmlns:a16="http://schemas.microsoft.com/office/drawing/2014/main" id="{DE5659B3-F804-B8AF-C3D9-C09A760DD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5260bdd85_0_256:notes">
            <a:extLst>
              <a:ext uri="{FF2B5EF4-FFF2-40B4-BE49-F238E27FC236}">
                <a16:creationId xmlns:a16="http://schemas.microsoft.com/office/drawing/2014/main" id="{31552C32-79DA-5A4E-22E4-C1F149AF0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2185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ED5CC98-D766-2701-B2EE-3FDDBBA4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>
            <a:extLst>
              <a:ext uri="{FF2B5EF4-FFF2-40B4-BE49-F238E27FC236}">
                <a16:creationId xmlns:a16="http://schemas.microsoft.com/office/drawing/2014/main" id="{899DB6F8-6EE2-8506-10BB-AC835F486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>
            <a:extLst>
              <a:ext uri="{FF2B5EF4-FFF2-40B4-BE49-F238E27FC236}">
                <a16:creationId xmlns:a16="http://schemas.microsoft.com/office/drawing/2014/main" id="{312EA5D7-0377-84C8-F37E-5B77B118A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346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05170382-F550-D1A7-C4E5-711416E5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>
            <a:extLst>
              <a:ext uri="{FF2B5EF4-FFF2-40B4-BE49-F238E27FC236}">
                <a16:creationId xmlns:a16="http://schemas.microsoft.com/office/drawing/2014/main" id="{E8A5471B-241E-F7C8-CD51-7DF04080E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>
            <a:extLst>
              <a:ext uri="{FF2B5EF4-FFF2-40B4-BE49-F238E27FC236}">
                <a16:creationId xmlns:a16="http://schemas.microsoft.com/office/drawing/2014/main" id="{C2B0C1BD-1321-1F4B-13CD-8A5EB1337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7223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897550" y="2496900"/>
            <a:ext cx="6648900" cy="24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62349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060600" y="3107399"/>
            <a:ext cx="5854800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28600" y="275975"/>
            <a:ext cx="1652100" cy="137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9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3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606750" y="228600"/>
            <a:ext cx="4308900" cy="7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2" hasCustomPrompt="1"/>
          </p:nvPr>
        </p:nvSpPr>
        <p:spPr>
          <a:xfrm>
            <a:off x="630677" y="496850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1723467" y="481163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 hasCustomPrompt="1"/>
          </p:nvPr>
        </p:nvSpPr>
        <p:spPr>
          <a:xfrm>
            <a:off x="630677" y="1027890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1723467" y="1012202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630677" y="1558903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6"/>
          </p:nvPr>
        </p:nvSpPr>
        <p:spPr>
          <a:xfrm>
            <a:off x="1723467" y="1543213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7" hasCustomPrompt="1"/>
          </p:nvPr>
        </p:nvSpPr>
        <p:spPr>
          <a:xfrm>
            <a:off x="630677" y="2089943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8"/>
          </p:nvPr>
        </p:nvSpPr>
        <p:spPr>
          <a:xfrm>
            <a:off x="1723467" y="2074252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9" hasCustomPrompt="1"/>
          </p:nvPr>
        </p:nvSpPr>
        <p:spPr>
          <a:xfrm>
            <a:off x="630677" y="2620956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3"/>
          </p:nvPr>
        </p:nvSpPr>
        <p:spPr>
          <a:xfrm>
            <a:off x="1723467" y="2605263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4" hasCustomPrompt="1"/>
          </p:nvPr>
        </p:nvSpPr>
        <p:spPr>
          <a:xfrm>
            <a:off x="630677" y="3151996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5"/>
          </p:nvPr>
        </p:nvSpPr>
        <p:spPr>
          <a:xfrm>
            <a:off x="1723467" y="3136302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6" hasCustomPrompt="1"/>
          </p:nvPr>
        </p:nvSpPr>
        <p:spPr>
          <a:xfrm>
            <a:off x="630677" y="3683009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7"/>
          </p:nvPr>
        </p:nvSpPr>
        <p:spPr>
          <a:xfrm>
            <a:off x="1723467" y="3667313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8" hasCustomPrompt="1"/>
          </p:nvPr>
        </p:nvSpPr>
        <p:spPr>
          <a:xfrm>
            <a:off x="630677" y="4214049"/>
            <a:ext cx="690900" cy="4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9"/>
          </p:nvPr>
        </p:nvSpPr>
        <p:spPr>
          <a:xfrm>
            <a:off x="1723467" y="4198352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235375" y="228600"/>
            <a:ext cx="4540200" cy="10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1"/>
          </p:nvPr>
        </p:nvSpPr>
        <p:spPr>
          <a:xfrm>
            <a:off x="228600" y="3244500"/>
            <a:ext cx="4294800" cy="16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>
            <a:spLocks noGrp="1"/>
          </p:cNvSpPr>
          <p:nvPr>
            <p:ph type="pic" idx="2"/>
          </p:nvPr>
        </p:nvSpPr>
        <p:spPr>
          <a:xfrm flipH="1">
            <a:off x="5687251" y="-75"/>
            <a:ext cx="34569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1"/>
          </p:nvPr>
        </p:nvSpPr>
        <p:spPr>
          <a:xfrm>
            <a:off x="612475" y="1427777"/>
            <a:ext cx="5531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2"/>
          </p:nvPr>
        </p:nvSpPr>
        <p:spPr>
          <a:xfrm>
            <a:off x="2999802" y="2644778"/>
            <a:ext cx="5531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3"/>
          </p:nvPr>
        </p:nvSpPr>
        <p:spPr>
          <a:xfrm>
            <a:off x="612475" y="3963712"/>
            <a:ext cx="5531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4"/>
          </p:nvPr>
        </p:nvSpPr>
        <p:spPr>
          <a:xfrm>
            <a:off x="612475" y="1090187"/>
            <a:ext cx="55317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chemeClr val="dk2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5"/>
          </p:nvPr>
        </p:nvSpPr>
        <p:spPr>
          <a:xfrm>
            <a:off x="2999834" y="2307192"/>
            <a:ext cx="55317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chemeClr val="dk2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6"/>
          </p:nvPr>
        </p:nvSpPr>
        <p:spPr>
          <a:xfrm>
            <a:off x="612475" y="3524197"/>
            <a:ext cx="5531700" cy="5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chemeClr val="dk2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295200" y="1743132"/>
            <a:ext cx="40602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2"/>
          </p:nvPr>
        </p:nvSpPr>
        <p:spPr>
          <a:xfrm>
            <a:off x="4788607" y="1743132"/>
            <a:ext cx="40602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3"/>
          </p:nvPr>
        </p:nvSpPr>
        <p:spPr>
          <a:xfrm>
            <a:off x="295200" y="3591959"/>
            <a:ext cx="40602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4"/>
          </p:nvPr>
        </p:nvSpPr>
        <p:spPr>
          <a:xfrm>
            <a:off x="4788607" y="3591959"/>
            <a:ext cx="40602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5"/>
          </p:nvPr>
        </p:nvSpPr>
        <p:spPr>
          <a:xfrm>
            <a:off x="295198" y="1397559"/>
            <a:ext cx="40602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2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6"/>
          </p:nvPr>
        </p:nvSpPr>
        <p:spPr>
          <a:xfrm>
            <a:off x="295198" y="3246587"/>
            <a:ext cx="40602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2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7"/>
          </p:nvPr>
        </p:nvSpPr>
        <p:spPr>
          <a:xfrm>
            <a:off x="4788574" y="1397559"/>
            <a:ext cx="40602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2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8"/>
          </p:nvPr>
        </p:nvSpPr>
        <p:spPr>
          <a:xfrm>
            <a:off x="4788574" y="3246587"/>
            <a:ext cx="40602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2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9037445-2.jpg"/>
          <p:cNvPicPr preferRelativeResize="0"/>
          <p:nvPr/>
        </p:nvPicPr>
        <p:blipFill rotWithShape="1">
          <a:blip r:embed="rId2">
            <a:alphaModFix/>
          </a:blip>
          <a:srcRect t="7813" b="7813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SemiExpanded Medium"/>
              <a:buNone/>
              <a:defRPr sz="26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Zalando Sans SemiExpanded Medium"/>
              <a:buNone/>
              <a:defRPr sz="3500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8600" y="9360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2" r:id="rId11"/>
    <p:sldLayoutId id="2147483663" r:id="rId12"/>
    <p:sldLayoutId id="2147483665" r:id="rId13"/>
    <p:sldLayoutId id="2147483667" r:id="rId14"/>
    <p:sldLayoutId id="214748366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/>
          <p:nvPr/>
        </p:nvSpPr>
        <p:spPr>
          <a:xfrm>
            <a:off x="4346359" y="2558375"/>
            <a:ext cx="4500000" cy="1136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7"/>
          <p:cNvSpPr txBox="1">
            <a:spLocks noGrp="1"/>
          </p:cNvSpPr>
          <p:nvPr>
            <p:ph type="ctrTitle"/>
          </p:nvPr>
        </p:nvSpPr>
        <p:spPr>
          <a:xfrm>
            <a:off x="842602" y="3211855"/>
            <a:ext cx="8003757" cy="15361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" sz="5400" dirty="0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  <a:t>ClusterView</a:t>
            </a:r>
            <a:r>
              <a:rPr lang="en" dirty="0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  <a:t> </a:t>
            </a:r>
            <a:br>
              <a:rPr lang="en" dirty="0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</a:br>
            <a:r>
              <a:rPr lang="bg-BG" sz="3600" dirty="0">
                <a:latin typeface="Bahnschrift SemiBold SemiConden" panose="020B0502040204020203" pitchFamily="34" charset="0"/>
              </a:rPr>
              <a:t>ВИЗУАЛЕН ФАЙЛОВ ОРГАНИЗАТОР</a:t>
            </a:r>
            <a:endParaRPr sz="3600" dirty="0">
              <a:latin typeface="Bahnschrift SemiBold SemiConden" panose="020B0502040204020203" pitchFamily="34" charset="0"/>
              <a:sym typeface="Zalando Sans SemiExpanded Medium"/>
            </a:endParaRPr>
          </a:p>
        </p:txBody>
      </p:sp>
      <p:sp>
        <p:nvSpPr>
          <p:cNvPr id="129" name="Google Shape;129;p27"/>
          <p:cNvSpPr txBox="1">
            <a:spLocks noGrp="1"/>
          </p:cNvSpPr>
          <p:nvPr>
            <p:ph type="subTitle" idx="1"/>
          </p:nvPr>
        </p:nvSpPr>
        <p:spPr>
          <a:xfrm>
            <a:off x="124522" y="154259"/>
            <a:ext cx="62349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latin typeface="Bahnschrift SemiBold SemiConden" panose="020B0502040204020203" pitchFamily="34" charset="0"/>
              </a:rPr>
              <a:t>Автори : Г. Георгиев и П. Пашова от 10А клас</a:t>
            </a:r>
            <a:endParaRPr lang="en-US" sz="1200" dirty="0">
              <a:latin typeface="Bahnschrift SemiBold SemiConden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latin typeface="Bahnschrift SemiBold SemiConden" panose="020B0502040204020203" pitchFamily="34" charset="0"/>
              </a:rPr>
              <a:t>Проект № 398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latin typeface="Bahnschrift SemiBold SemiConden" panose="020B0502040204020203" pitchFamily="34" charset="0"/>
              </a:rPr>
              <a:t>Ръководител : Инж. Мариана Христозкова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latin typeface="Bahnschrift SemiBold SemiConden" panose="020B0502040204020203" pitchFamily="34" charset="0"/>
              </a:rPr>
              <a:t>Професионална гимназия по електротехника и електроника – гр. Пловдив</a:t>
            </a:r>
            <a:endParaRPr sz="1200" dirty="0">
              <a:latin typeface="Bahnschrift SemiBold SemiConden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F0E89-8125-58B5-57CC-CCC2B88FA4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4484"/>
            <a:ext cx="9144000" cy="51390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446713" y="3961477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446713" y="3428211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9"/>
          <p:cNvSpPr/>
          <p:nvPr/>
        </p:nvSpPr>
        <p:spPr>
          <a:xfrm>
            <a:off x="446713" y="2894945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446713" y="2361679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446713" y="1828413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446713" y="1295147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446713" y="761881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446713" y="228615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4606750" y="228600"/>
            <a:ext cx="4308900" cy="7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hnschrift SemiBold SemiConden" panose="020B0502040204020203" pitchFamily="34" charset="0"/>
              </a:rPr>
              <a:t>Съдържание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184" name="Google Shape;184;p29"/>
          <p:cNvSpPr txBox="1">
            <a:spLocks noGrp="1"/>
          </p:cNvSpPr>
          <p:nvPr>
            <p:ph type="title" idx="7"/>
          </p:nvPr>
        </p:nvSpPr>
        <p:spPr>
          <a:xfrm>
            <a:off x="586072" y="1837380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title" idx="14"/>
          </p:nvPr>
        </p:nvSpPr>
        <p:spPr>
          <a:xfrm>
            <a:off x="586072" y="2899433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subTitle" idx="1"/>
          </p:nvPr>
        </p:nvSpPr>
        <p:spPr>
          <a:xfrm>
            <a:off x="1678862" y="228600"/>
            <a:ext cx="3956222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Bahnschrift SemiBold SemiConden" panose="020B0502040204020203" pitchFamily="34" charset="0"/>
              </a:rPr>
              <a:t>Нужда от ефективен локален мониторинг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187" name="Google Shape;187;p29"/>
          <p:cNvSpPr txBox="1">
            <a:spLocks noGrp="1"/>
          </p:cNvSpPr>
          <p:nvPr>
            <p:ph type="subTitle" idx="8"/>
          </p:nvPr>
        </p:nvSpPr>
        <p:spPr>
          <a:xfrm>
            <a:off x="1678862" y="1821689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hnschrift SemiBold SemiConden" panose="020B0502040204020203" pitchFamily="34" charset="0"/>
              </a:rPr>
              <a:t>Архитектура на приложението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188" name="Google Shape;188;p29"/>
          <p:cNvSpPr txBox="1">
            <a:spLocks noGrp="1"/>
          </p:cNvSpPr>
          <p:nvPr>
            <p:ph type="subTitle" idx="15"/>
          </p:nvPr>
        </p:nvSpPr>
        <p:spPr>
          <a:xfrm>
            <a:off x="1678861" y="2883739"/>
            <a:ext cx="3956221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>
                <a:latin typeface="Bahnschrift SemiBold SemiConden" panose="020B0502040204020203" pitchFamily="34" charset="0"/>
              </a:rPr>
              <a:t>Визуализация на ресурсите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 idx="2"/>
          </p:nvPr>
        </p:nvSpPr>
        <p:spPr>
          <a:xfrm>
            <a:off x="586072" y="244287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title" idx="3"/>
          </p:nvPr>
        </p:nvSpPr>
        <p:spPr>
          <a:xfrm>
            <a:off x="586072" y="775327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title" idx="18"/>
          </p:nvPr>
        </p:nvSpPr>
        <p:spPr>
          <a:xfrm>
            <a:off x="586072" y="3961486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4"/>
          </p:nvPr>
        </p:nvSpPr>
        <p:spPr>
          <a:xfrm>
            <a:off x="1678862" y="759639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ru-RU" dirty="0">
                <a:latin typeface="Bahnschrift SemiBold SemiConden" panose="020B0502040204020203" pitchFamily="34" charset="0"/>
              </a:rPr>
              <a:t>Създаване на бързо решение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196" name="Google Shape;196;p29"/>
          <p:cNvSpPr txBox="1">
            <a:spLocks noGrp="1"/>
          </p:cNvSpPr>
          <p:nvPr>
            <p:ph type="title" idx="5"/>
          </p:nvPr>
        </p:nvSpPr>
        <p:spPr>
          <a:xfrm>
            <a:off x="586072" y="1306340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subTitle" idx="6"/>
          </p:nvPr>
        </p:nvSpPr>
        <p:spPr>
          <a:xfrm>
            <a:off x="1678862" y="1290650"/>
            <a:ext cx="3237300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hnschrift SemiBold SemiConden" panose="020B0502040204020203" pitchFamily="34" charset="0"/>
              </a:rPr>
              <a:t>Използвани технологии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198" name="Google Shape;198;p29"/>
          <p:cNvSpPr txBox="1">
            <a:spLocks noGrp="1"/>
          </p:cNvSpPr>
          <p:nvPr>
            <p:ph type="title" idx="9"/>
          </p:nvPr>
        </p:nvSpPr>
        <p:spPr>
          <a:xfrm>
            <a:off x="586072" y="2368393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subTitle" idx="13"/>
          </p:nvPr>
        </p:nvSpPr>
        <p:spPr>
          <a:xfrm>
            <a:off x="1678862" y="2352700"/>
            <a:ext cx="4216416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b="1" dirty="0">
                <a:latin typeface="Bahnschrift SemiBold SemiConden" panose="020B0502040204020203" pitchFamily="34" charset="0"/>
              </a:rPr>
              <a:t>Сигурност:</a:t>
            </a:r>
            <a:r>
              <a:rPr lang="ru-RU" dirty="0">
                <a:latin typeface="Bahnschrift SemiBold SemiConden" panose="020B0502040204020203" pitchFamily="34" charset="0"/>
              </a:rPr>
              <a:t> Потребителска оторизация и защита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 idx="16"/>
          </p:nvPr>
        </p:nvSpPr>
        <p:spPr>
          <a:xfrm>
            <a:off x="586072" y="3430446"/>
            <a:ext cx="69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subTitle" idx="17"/>
          </p:nvPr>
        </p:nvSpPr>
        <p:spPr>
          <a:xfrm>
            <a:off x="1678861" y="3414750"/>
            <a:ext cx="3354055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>
                <a:latin typeface="Bahnschrift SemiBold SemiConden" panose="020B0502040204020203" pitchFamily="34" charset="0"/>
              </a:rPr>
              <a:t>Функционално тестване и стабилност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202" name="Google Shape;202;p29"/>
          <p:cNvSpPr txBox="1">
            <a:spLocks noGrp="1"/>
          </p:cNvSpPr>
          <p:nvPr>
            <p:ph type="subTitle" idx="19"/>
          </p:nvPr>
        </p:nvSpPr>
        <p:spPr>
          <a:xfrm>
            <a:off x="1678862" y="3945789"/>
            <a:ext cx="3688592" cy="4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b="1" dirty="0">
                <a:latin typeface="Bahnschrift SemiBold SemiConden" panose="020B0502040204020203" pitchFamily="34" charset="0"/>
              </a:rPr>
              <a:t>Развитие:</a:t>
            </a:r>
            <a:r>
              <a:rPr lang="ru-RU" dirty="0">
                <a:latin typeface="Bahnschrift SemiBold SemiConden" panose="020B0502040204020203" pitchFamily="34" charset="0"/>
              </a:rPr>
              <a:t> Мобилна версия и реално време</a:t>
            </a:r>
          </a:p>
        </p:txBody>
      </p:sp>
      <p:sp>
        <p:nvSpPr>
          <p:cNvPr id="2" name="Google Shape;175;p29">
            <a:extLst>
              <a:ext uri="{FF2B5EF4-FFF2-40B4-BE49-F238E27FC236}">
                <a16:creationId xmlns:a16="http://schemas.microsoft.com/office/drawing/2014/main" id="{C4A33763-F170-7C19-6EBF-66890CA16A94}"/>
              </a:ext>
            </a:extLst>
          </p:cNvPr>
          <p:cNvSpPr/>
          <p:nvPr/>
        </p:nvSpPr>
        <p:spPr>
          <a:xfrm>
            <a:off x="446713" y="4496854"/>
            <a:ext cx="969600" cy="432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2;p29">
            <a:extLst>
              <a:ext uri="{FF2B5EF4-FFF2-40B4-BE49-F238E27FC236}">
                <a16:creationId xmlns:a16="http://schemas.microsoft.com/office/drawing/2014/main" id="{7C75DCD4-F33E-A5CC-EECC-350B4895F43A}"/>
              </a:ext>
            </a:extLst>
          </p:cNvPr>
          <p:cNvSpPr txBox="1">
            <a:spLocks/>
          </p:cNvSpPr>
          <p:nvPr/>
        </p:nvSpPr>
        <p:spPr>
          <a:xfrm>
            <a:off x="586063" y="4492508"/>
            <a:ext cx="6909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2100" b="0" i="0" u="none" strike="noStrike" cap="none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alando Sans SemiExpanded Medium"/>
              <a:buNone/>
              <a:defRPr sz="3000" b="0" i="0" u="none" strike="noStrike" cap="none">
                <a:solidFill>
                  <a:schemeClr val="dk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defRPr>
            </a:lvl9pPr>
          </a:lstStyle>
          <a:p>
            <a:r>
              <a:rPr lang="en" dirty="0"/>
              <a:t>0</a:t>
            </a:r>
            <a:r>
              <a:rPr lang="bg-BG" dirty="0"/>
              <a:t>9</a:t>
            </a:r>
            <a:endParaRPr lang="e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D936B-DFD7-F731-D4E2-F95F8CD6435B}"/>
              </a:ext>
            </a:extLst>
          </p:cNvPr>
          <p:cNvSpPr txBox="1"/>
          <p:nvPr/>
        </p:nvSpPr>
        <p:spPr>
          <a:xfrm>
            <a:off x="1678861" y="453953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bg-BG" sz="16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Обобщение на проекта</a:t>
            </a:r>
            <a:endParaRPr lang="ru-RU" sz="1600" dirty="0">
              <a:solidFill>
                <a:schemeClr val="accent6"/>
              </a:solidFill>
              <a:latin typeface="Bahnschrift SemiBold SemiConden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>
            <a:off x="2743816" y="3110955"/>
            <a:ext cx="6098400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2865616" y="2207205"/>
            <a:ext cx="5854800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Bahnschrift SemiBold SemiConden" panose="020B0502040204020203" pitchFamily="34" charset="0"/>
              </a:rPr>
              <a:t>Нужда от </a:t>
            </a:r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ефективен локален </a:t>
            </a:r>
            <a:r>
              <a:rPr lang="ru-RU" dirty="0">
                <a:latin typeface="Bahnschrift SemiBold SemiConden" panose="020B0502040204020203" pitchFamily="34" charset="0"/>
              </a:rPr>
              <a:t>мониторинг</a:t>
            </a:r>
          </a:p>
        </p:txBody>
      </p:sp>
      <p:sp>
        <p:nvSpPr>
          <p:cNvPr id="215" name="Google Shape;215;p31"/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652100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subTitle" idx="1"/>
          </p:nvPr>
        </p:nvSpPr>
        <p:spPr>
          <a:xfrm>
            <a:off x="708259" y="1096147"/>
            <a:ext cx="4183288" cy="16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ru-RU" sz="1600" b="1" dirty="0">
                <a:latin typeface="Bahnschrift SemiBold SemiConden" panose="020B0502040204020203" pitchFamily="34" charset="0"/>
              </a:rPr>
              <a:t>Проблемът тук са т</a:t>
            </a:r>
            <a:r>
              <a:rPr lang="ru-RU" sz="1600" dirty="0">
                <a:latin typeface="Bahnschrift SemiBold SemiConden" panose="020B0502040204020203" pitchFamily="34" charset="0"/>
              </a:rPr>
              <a:t>рудностите при бързото ориентиране в сложни клъстерни структури и липса на лесни за инсталиране настолни инструменти.</a:t>
            </a:r>
          </a:p>
          <a:p>
            <a:pPr marL="0" lvl="0" indent="0">
              <a:buSzPts val="1100"/>
              <a:buNone/>
            </a:pPr>
            <a:endParaRPr lang="ru-RU" sz="1600" dirty="0">
              <a:latin typeface="Bahnschrift SemiBold SemiConden" panose="020B0502040204020203" pitchFamily="34" charset="0"/>
            </a:endParaRPr>
          </a:p>
          <a:p>
            <a:pPr marL="0" lvl="0" indent="0">
              <a:buSzPts val="1100"/>
              <a:buNone/>
            </a:pPr>
            <a:r>
              <a:rPr lang="ru-RU" sz="1600" b="1" dirty="0">
                <a:latin typeface="Bahnschrift SemiBold SemiConden" panose="020B0502040204020203" pitchFamily="34" charset="0"/>
              </a:rPr>
              <a:t>Нашето решение беше да с</a:t>
            </a:r>
            <a:r>
              <a:rPr lang="ru-RU" sz="1600" dirty="0">
                <a:latin typeface="Bahnschrift SemiBold SemiConden" panose="020B0502040204020203" pitchFamily="34" charset="0"/>
              </a:rPr>
              <a:t>ъздавадем софтуер, който обединява сигурност, база данни и графична визуализация в един изпълним файл (Standalone).</a:t>
            </a:r>
          </a:p>
          <a:p>
            <a:pPr marL="0" lvl="0" indent="0">
              <a:buSzPts val="1100"/>
              <a:buNone/>
            </a:pPr>
            <a:endParaRPr lang="ru-RU" sz="1600" dirty="0">
              <a:latin typeface="Bahnschrift SemiBold SemiConden" panose="020B0502040204020203" pitchFamily="34" charset="0"/>
            </a:endParaRPr>
          </a:p>
          <a:p>
            <a:pPr marL="0" lvl="0" indent="0">
              <a:buSzPts val="1100"/>
              <a:buNone/>
            </a:pPr>
            <a:r>
              <a:rPr lang="ru-RU" sz="1600" b="1" dirty="0">
                <a:latin typeface="Bahnschrift SemiBold SemiConden" panose="020B0502040204020203" pitchFamily="34" charset="0"/>
              </a:rPr>
              <a:t>С помощта на разработката се н</a:t>
            </a:r>
            <a:r>
              <a:rPr lang="ru-RU" sz="1600" dirty="0">
                <a:latin typeface="Bahnschrift SemiBold SemiConden" panose="020B0502040204020203" pitchFamily="34" charset="0"/>
              </a:rPr>
              <a:t>амалява времето за диагностика и управление на ресурсите.</a:t>
            </a:r>
            <a:endParaRPr sz="1600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6E6FD-BD0B-099C-C401-572F4FD08F35}"/>
              </a:ext>
            </a:extLst>
          </p:cNvPr>
          <p:cNvSpPr txBox="1"/>
          <p:nvPr/>
        </p:nvSpPr>
        <p:spPr>
          <a:xfrm>
            <a:off x="105937" y="15472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Мониторинг</a:t>
            </a:r>
            <a:endParaRPr lang="bg-BG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607B93-D951-78BE-78AF-5109CE9B4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234" y="0"/>
            <a:ext cx="3450766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3F4C0025-9680-4873-D7E2-3AFE0498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08DB87A6-6E7C-81EB-FBF5-67AC59C4D70D}"/>
              </a:ext>
            </a:extLst>
          </p:cNvPr>
          <p:cNvSpPr/>
          <p:nvPr/>
        </p:nvSpPr>
        <p:spPr>
          <a:xfrm>
            <a:off x="2743816" y="3110955"/>
            <a:ext cx="6098400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106CEEEC-D8C9-B346-E88D-59D14B5BA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5616" y="3054698"/>
            <a:ext cx="5854800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Създаване на бързо </a:t>
            </a:r>
            <a:r>
              <a:rPr lang="ru-RU" dirty="0">
                <a:latin typeface="Bahnschrift SemiBold SemiConden" panose="020B0502040204020203" pitchFamily="34" charset="0"/>
              </a:rPr>
              <a:t>решение</a:t>
            </a: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EF1ED760-F8FC-7D86-9133-C3E8818C1FE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2206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g-BG" altLang="bg-BG" sz="2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Задачи:</a:t>
            </a:r>
            <a:r>
              <a:rPr lang="bg-BG" altLang="bg-BG" sz="2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 Проектиране на интуитивна архитектура.</a:t>
            </a:r>
          </a:p>
        </p:txBody>
      </p:sp>
      <p:sp>
        <p:nvSpPr>
          <p:cNvPr id="237" name="Google Shape;237;p34"/>
          <p:cNvSpPr txBox="1">
            <a:spLocks noGrp="1"/>
          </p:cNvSpPr>
          <p:nvPr>
            <p:ph type="subTitle" idx="1"/>
          </p:nvPr>
        </p:nvSpPr>
        <p:spPr>
          <a:xfrm>
            <a:off x="322544" y="1873827"/>
            <a:ext cx="55317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Проектът цели да постигне висока отзивчивост и пълна офлайн функционалност.</a:t>
            </a:r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4"/>
          </p:nvPr>
        </p:nvSpPr>
        <p:spPr>
          <a:xfrm>
            <a:off x="322544" y="1536237"/>
            <a:ext cx="55317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u="sng" dirty="0">
                <a:latin typeface="Bahnschrift SemiBold SemiConden" panose="020B0502040204020203" pitchFamily="34" charset="0"/>
              </a:rPr>
              <a:t>Основни цели :</a:t>
            </a:r>
            <a:endParaRPr sz="1800" u="sng" dirty="0">
              <a:latin typeface="Bahnschrift SemiBold SemiConden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9724DE-498E-6C67-C1FB-62FCC606C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44" y="2680659"/>
            <a:ext cx="73084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bg-BG" altLang="bg-BG" sz="1800" u="sng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Основните задачи включват : </a:t>
            </a:r>
            <a:endParaRPr kumimoji="0" lang="en-US" altLang="bg-BG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Реализация на защитен достъп.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Разработка на динамични графични компоненти за</a:t>
            </a: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 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визуализация на данни.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sz="18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Интуитивен потребителски интерфейс за управление на клъстери.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A41C620C-AA95-C173-EB87-0CF44C59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B2707C28-5D21-BE2F-A015-9F176BF6ACDE}"/>
              </a:ext>
            </a:extLst>
          </p:cNvPr>
          <p:cNvSpPr/>
          <p:nvPr/>
        </p:nvSpPr>
        <p:spPr>
          <a:xfrm>
            <a:off x="4744386" y="3110955"/>
            <a:ext cx="4097829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F6460679-68D1-4EAE-6044-DF31B5329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5616" y="3054698"/>
            <a:ext cx="5854800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buSzPts val="1100"/>
            </a:pPr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Използвани</a:t>
            </a:r>
            <a:b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технологии</a:t>
            </a: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4EC386F7-0866-8657-F34F-466BC5BBF7C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8941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hnschrift SemiBold SemiConden" panose="020B0502040204020203" pitchFamily="34" charset="0"/>
              </a:rPr>
              <a:t>Избрани технологии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-576350" y="4152413"/>
            <a:ext cx="10201500" cy="3211200"/>
          </a:xfrm>
          <a:prstGeom prst="arc">
            <a:avLst>
              <a:gd name="adj1" fmla="val 10802876"/>
              <a:gd name="adj2" fmla="val 12330824"/>
            </a:avLst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2" name="Google Shape;312;p38"/>
          <p:cNvSpPr/>
          <p:nvPr/>
        </p:nvSpPr>
        <p:spPr>
          <a:xfrm flipH="1">
            <a:off x="2879175" y="3425293"/>
            <a:ext cx="429600" cy="429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  <a:t>1</a:t>
            </a:r>
            <a:endParaRPr sz="1600" dirty="0">
              <a:solidFill>
                <a:schemeClr val="lt1"/>
              </a:solidFill>
              <a:latin typeface="Zalando Sans SemiExpanded Medium"/>
              <a:ea typeface="Zalando Sans SemiExpanded Medium"/>
              <a:cs typeface="Zalando Sans SemiExpanded Medium"/>
              <a:sym typeface="Zalando Sans SemiExpanded Medium"/>
            </a:endParaRPr>
          </a:p>
        </p:txBody>
      </p:sp>
      <p:sp>
        <p:nvSpPr>
          <p:cNvPr id="313" name="Google Shape;313;p38"/>
          <p:cNvSpPr/>
          <p:nvPr/>
        </p:nvSpPr>
        <p:spPr>
          <a:xfrm flipH="1">
            <a:off x="4176950" y="3371993"/>
            <a:ext cx="429600" cy="429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  <a:t>2</a:t>
            </a:r>
            <a:endParaRPr sz="1600" dirty="0">
              <a:solidFill>
                <a:schemeClr val="lt1"/>
              </a:solidFill>
              <a:latin typeface="Zalando Sans SemiExpanded Medium"/>
              <a:ea typeface="Zalando Sans SemiExpanded Medium"/>
              <a:cs typeface="Zalando Sans SemiExpanded Medium"/>
              <a:sym typeface="Zalando Sans SemiExpanded Medium"/>
            </a:endParaRPr>
          </a:p>
        </p:txBody>
      </p:sp>
      <p:sp>
        <p:nvSpPr>
          <p:cNvPr id="314" name="Google Shape;314;p38"/>
          <p:cNvSpPr/>
          <p:nvPr/>
        </p:nvSpPr>
        <p:spPr>
          <a:xfrm flipH="1">
            <a:off x="5474725" y="3425293"/>
            <a:ext cx="429600" cy="429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  <a:t>3</a:t>
            </a:r>
            <a:endParaRPr sz="1600" dirty="0">
              <a:solidFill>
                <a:schemeClr val="lt1"/>
              </a:solidFill>
              <a:latin typeface="Zalando Sans SemiExpanded Medium"/>
              <a:ea typeface="Zalando Sans SemiExpanded Medium"/>
              <a:cs typeface="Zalando Sans SemiExpanded Medium"/>
              <a:sym typeface="Zalando Sans SemiExpanded Medium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-576350" y="4152413"/>
            <a:ext cx="10201500" cy="3211200"/>
          </a:xfrm>
          <a:prstGeom prst="arc">
            <a:avLst>
              <a:gd name="adj1" fmla="val 12463245"/>
              <a:gd name="adj2" fmla="val 13494095"/>
            </a:avLst>
          </a:prstGeom>
          <a:noFill/>
          <a:ln w="9525" cap="rnd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-576350" y="4152413"/>
            <a:ext cx="10201500" cy="3211200"/>
          </a:xfrm>
          <a:prstGeom prst="arc">
            <a:avLst>
              <a:gd name="adj1" fmla="val 13754751"/>
              <a:gd name="adj2" fmla="val 15701585"/>
            </a:avLst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-576350" y="4152413"/>
            <a:ext cx="10201500" cy="3211200"/>
          </a:xfrm>
          <a:prstGeom prst="arc">
            <a:avLst>
              <a:gd name="adj1" fmla="val 16168331"/>
              <a:gd name="adj2" fmla="val 18233961"/>
            </a:avLst>
          </a:prstGeom>
          <a:noFill/>
          <a:ln w="9525" cap="rnd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-576350" y="4152413"/>
            <a:ext cx="10201500" cy="3211200"/>
          </a:xfrm>
          <a:prstGeom prst="arc">
            <a:avLst>
              <a:gd name="adj1" fmla="val 18565461"/>
              <a:gd name="adj2" fmla="val 19730102"/>
            </a:avLst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-576350" y="4152413"/>
            <a:ext cx="10201500" cy="3211200"/>
          </a:xfrm>
          <a:prstGeom prst="arc">
            <a:avLst>
              <a:gd name="adj1" fmla="val 19897549"/>
              <a:gd name="adj2" fmla="val 21190696"/>
            </a:avLst>
          </a:prstGeom>
          <a:noFill/>
          <a:ln w="9525" cap="rnd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2" name="Google Shape;322;p38"/>
          <p:cNvSpPr/>
          <p:nvPr/>
        </p:nvSpPr>
        <p:spPr>
          <a:xfrm>
            <a:off x="2982975" y="4093455"/>
            <a:ext cx="222000" cy="22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3" name="Google Shape;323;p38"/>
          <p:cNvSpPr/>
          <p:nvPr/>
        </p:nvSpPr>
        <p:spPr>
          <a:xfrm>
            <a:off x="4280750" y="4040169"/>
            <a:ext cx="222000" cy="22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5578525" y="4093455"/>
            <a:ext cx="222000" cy="222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27" name="Google Shape;327;p38"/>
          <p:cNvCxnSpPr>
            <a:stCxn id="322" idx="0"/>
            <a:endCxn id="312" idx="4"/>
          </p:cNvCxnSpPr>
          <p:nvPr/>
        </p:nvCxnSpPr>
        <p:spPr>
          <a:xfrm rot="10800000">
            <a:off x="3093975" y="3854955"/>
            <a:ext cx="0" cy="238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38"/>
          <p:cNvCxnSpPr>
            <a:stCxn id="324" idx="0"/>
            <a:endCxn id="314" idx="4"/>
          </p:cNvCxnSpPr>
          <p:nvPr/>
        </p:nvCxnSpPr>
        <p:spPr>
          <a:xfrm rot="10800000">
            <a:off x="5689525" y="3854955"/>
            <a:ext cx="0" cy="238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38"/>
          <p:cNvCxnSpPr>
            <a:stCxn id="323" idx="0"/>
            <a:endCxn id="313" idx="4"/>
          </p:cNvCxnSpPr>
          <p:nvPr/>
        </p:nvCxnSpPr>
        <p:spPr>
          <a:xfrm rot="10800000">
            <a:off x="4391750" y="3801669"/>
            <a:ext cx="0" cy="238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38"/>
          <p:cNvSpPr txBox="1"/>
          <p:nvPr/>
        </p:nvSpPr>
        <p:spPr>
          <a:xfrm>
            <a:off x="1147300" y="1764665"/>
            <a:ext cx="12978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endParaRPr sz="1600" dirty="0">
              <a:solidFill>
                <a:schemeClr val="accent6"/>
              </a:solidFill>
              <a:latin typeface="Bahnschrift SemiBold SemiConden" panose="020B0502040204020203" pitchFamily="34" charset="0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334" name="Google Shape;334;p38"/>
          <p:cNvSpPr txBox="1"/>
          <p:nvPr/>
        </p:nvSpPr>
        <p:spPr>
          <a:xfrm>
            <a:off x="1702420" y="1862165"/>
            <a:ext cx="2800329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de-DE" sz="16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Kotlin Multiplatform </a:t>
            </a:r>
            <a:endParaRPr lang="bg-BG" sz="1600" dirty="0">
              <a:solidFill>
                <a:schemeClr val="accent6"/>
              </a:solidFill>
              <a:latin typeface="Bahnschrift SemiBold SemiConden" panose="020B0502040204020203" pitchFamily="34" charset="0"/>
            </a:endParaRPr>
          </a:p>
          <a:p>
            <a:pPr algn="ctr"/>
            <a:r>
              <a:rPr lang="de-DE" sz="16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(KMP)</a:t>
            </a:r>
            <a:endParaRPr lang="de-DE" sz="1600" dirty="0">
              <a:solidFill>
                <a:schemeClr val="accent6"/>
              </a:solidFill>
              <a:latin typeface="Bahnschrift SemiBold SemiConden" panose="020B0502040204020203" pitchFamily="34" charset="0"/>
              <a:ea typeface="Zalando Sans SemiExpanded"/>
              <a:cs typeface="Zalando Sans SemiExpanded"/>
              <a:sym typeface="Zalando Sans SemiExpand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336" name="Google Shape;336;p38"/>
          <p:cNvSpPr txBox="1"/>
          <p:nvPr/>
        </p:nvSpPr>
        <p:spPr>
          <a:xfrm>
            <a:off x="3742825" y="1236627"/>
            <a:ext cx="12978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de-DE" sz="16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Jetpack Compose for Desktop</a:t>
            </a:r>
            <a:endParaRPr sz="1600" dirty="0">
              <a:solidFill>
                <a:schemeClr val="accent6"/>
              </a:solidFill>
              <a:latin typeface="Bahnschrift SemiBold SemiConden" panose="020B0502040204020203" pitchFamily="34" charset="0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338" name="Google Shape;338;p38"/>
          <p:cNvSpPr txBox="1"/>
          <p:nvPr/>
        </p:nvSpPr>
        <p:spPr>
          <a:xfrm>
            <a:off x="5057869" y="1998248"/>
            <a:ext cx="12978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de-DE" sz="16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SQLite</a:t>
            </a:r>
            <a:endParaRPr sz="1600" dirty="0">
              <a:solidFill>
                <a:schemeClr val="accent6"/>
              </a:solidFill>
              <a:latin typeface="Bahnschrift SemiBold SemiConden" panose="020B0502040204020203" pitchFamily="34" charset="0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342" name="Google Shape;342;p38"/>
          <p:cNvCxnSpPr>
            <a:cxnSpLocks/>
            <a:stCxn id="312" idx="0"/>
          </p:cNvCxnSpPr>
          <p:nvPr/>
        </p:nvCxnSpPr>
        <p:spPr>
          <a:xfrm flipV="1">
            <a:off x="3093975" y="2453268"/>
            <a:ext cx="8609" cy="97202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8"/>
          <p:cNvCxnSpPr>
            <a:cxnSpLocks/>
            <a:stCxn id="313" idx="0"/>
          </p:cNvCxnSpPr>
          <p:nvPr/>
        </p:nvCxnSpPr>
        <p:spPr>
          <a:xfrm flipH="1" flipV="1">
            <a:off x="4391725" y="2070665"/>
            <a:ext cx="25" cy="1301328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8"/>
          <p:cNvCxnSpPr>
            <a:cxnSpLocks/>
            <a:stCxn id="314" idx="0"/>
          </p:cNvCxnSpPr>
          <p:nvPr/>
        </p:nvCxnSpPr>
        <p:spPr>
          <a:xfrm flipV="1">
            <a:off x="5689525" y="2393795"/>
            <a:ext cx="0" cy="1031498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>
            <a:spLocks noGrp="1"/>
          </p:cNvSpPr>
          <p:nvPr>
            <p:ph type="subTitle" idx="1"/>
          </p:nvPr>
        </p:nvSpPr>
        <p:spPr>
          <a:xfrm>
            <a:off x="295200" y="1743132"/>
            <a:ext cx="40602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dirty="0">
                <a:latin typeface="Bahnschrift SemiBold SemiConden" panose="020B0502040204020203" pitchFamily="34" charset="0"/>
              </a:rPr>
              <a:t>Стратегическа технология, която разделя  ядрото от интерфейса, което гарантира модулност и чистота на кода.</a:t>
            </a:r>
            <a:endParaRPr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248" name="Google Shape;248;p35"/>
          <p:cNvSpPr txBox="1">
            <a:spLocks noGrp="1"/>
          </p:cNvSpPr>
          <p:nvPr>
            <p:ph type="subTitle" idx="2"/>
          </p:nvPr>
        </p:nvSpPr>
        <p:spPr>
          <a:xfrm>
            <a:off x="4788607" y="1743132"/>
            <a:ext cx="40602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dirty="0">
                <a:latin typeface="Bahnschrift SemiBold SemiConden" panose="020B0502040204020203" pitchFamily="34" charset="0"/>
              </a:rPr>
              <a:t>Позволява декларативен подход и хардуерно ускорение за плавни анимации.</a:t>
            </a:r>
            <a:endParaRPr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3"/>
          </p:nvPr>
        </p:nvSpPr>
        <p:spPr>
          <a:xfrm>
            <a:off x="2473322" y="3267123"/>
            <a:ext cx="40602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dirty="0">
                <a:latin typeface="Bahnschrift SemiBold SemiConden" panose="020B0502040204020203" pitchFamily="34" charset="0"/>
              </a:rPr>
              <a:t>Спряхме се конкретно на тази релационна база данни, защото не изисква сървърен процес.</a:t>
            </a:r>
            <a:endParaRPr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5"/>
          </p:nvPr>
        </p:nvSpPr>
        <p:spPr>
          <a:xfrm>
            <a:off x="295167" y="1397559"/>
            <a:ext cx="40602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b="1" u="sng" dirty="0"/>
              <a:t>Kotlin Multiplatform (KMP):</a:t>
            </a:r>
            <a:endParaRPr u="sng" dirty="0"/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6"/>
          </p:nvPr>
        </p:nvSpPr>
        <p:spPr>
          <a:xfrm>
            <a:off x="2473320" y="2921751"/>
            <a:ext cx="40602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SQLite</a:t>
            </a:r>
            <a:endParaRPr b="1" u="sng" dirty="0"/>
          </a:p>
        </p:txBody>
      </p:sp>
      <p:sp>
        <p:nvSpPr>
          <p:cNvPr id="253" name="Google Shape;253;p35"/>
          <p:cNvSpPr txBox="1">
            <a:spLocks noGrp="1"/>
          </p:cNvSpPr>
          <p:nvPr>
            <p:ph type="subTitle" idx="7"/>
          </p:nvPr>
        </p:nvSpPr>
        <p:spPr>
          <a:xfrm>
            <a:off x="4788574" y="1397559"/>
            <a:ext cx="40602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b="1" u="sng" dirty="0"/>
              <a:t>Jetpack Compose for Desktop:</a:t>
            </a:r>
            <a:endParaRPr u="sng" dirty="0"/>
          </a:p>
        </p:txBody>
      </p:sp>
      <p:sp>
        <p:nvSpPr>
          <p:cNvPr id="255" name="Google Shape;255;p3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hnschrift SemiBold SemiConden" panose="020B0502040204020203" pitchFamily="34" charset="0"/>
              </a:rPr>
              <a:t>Защо точно тези технологии?</a:t>
            </a:r>
            <a:endParaRPr dirty="0">
              <a:latin typeface="Bahnschrift SemiBold SemiConden" panose="020B0502040204020203" pitchFamily="34" charset="0"/>
            </a:endParaRPr>
          </a:p>
        </p:txBody>
      </p:sp>
      <p:pic>
        <p:nvPicPr>
          <p:cNvPr id="9220" name="Picture 4" descr="Kotlin Multiplatform – Build Cross-Platform Apps">
            <a:extLst>
              <a:ext uri="{FF2B5EF4-FFF2-40B4-BE49-F238E27FC236}">
                <a16:creationId xmlns:a16="http://schemas.microsoft.com/office/drawing/2014/main" id="{86D6F582-B71B-5781-F71B-8653DE04A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9BBA4D61-D4E5-2D8B-87F8-3CCEB157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4F709C74-9CAD-9039-8F5C-B646A077DE3B}"/>
              </a:ext>
            </a:extLst>
          </p:cNvPr>
          <p:cNvSpPr/>
          <p:nvPr/>
        </p:nvSpPr>
        <p:spPr>
          <a:xfrm>
            <a:off x="3904938" y="3110955"/>
            <a:ext cx="4937278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1F1155B1-A035-C4F2-F245-38AAFC570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5616" y="3054698"/>
            <a:ext cx="5854800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Архитектура</a:t>
            </a:r>
            <a:r>
              <a:rPr lang="bg-BG" dirty="0">
                <a:latin typeface="Bahnschrift SemiBold SemiConden" panose="020B0502040204020203" pitchFamily="34" charset="0"/>
              </a:rPr>
              <a:t> </a:t>
            </a:r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на</a:t>
            </a:r>
            <a:r>
              <a:rPr lang="bg-BG" dirty="0">
                <a:latin typeface="Bahnschrift SemiBold SemiConden" panose="020B0502040204020203" pitchFamily="34" charset="0"/>
              </a:rPr>
              <a:t> приложението</a:t>
            </a: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58418EA4-ACE4-9D2C-7900-92FA765EA5E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012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780193BC-1A4A-37A5-11F3-60E8EC43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A0ACBF-531F-FAA3-02DB-4E9C8C725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5" y="1417513"/>
            <a:ext cx="48890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Структура е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на база трислойна архитектура 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Потребителски интерфейс, Бизнес логика и Слой за данни.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Поток на информацията: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Потребителско действие -&gt; Корутина (Async) -&gt;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SQL заявка -&gt; Реактивно обновяване на UI чрез Compose.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9445C-4347-9C65-B7A5-A35003BBC0AD}"/>
              </a:ext>
            </a:extLst>
          </p:cNvPr>
          <p:cNvSpPr txBox="1"/>
          <p:nvPr/>
        </p:nvSpPr>
        <p:spPr>
          <a:xfrm>
            <a:off x="264816" y="429993"/>
            <a:ext cx="73418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altLang="bg-BG" sz="2600" b="1">
                <a:solidFill>
                  <a:schemeClr val="tx1"/>
                </a:solidFill>
                <a:latin typeface="Bahnschrift SemiBold SemiConden" panose="020B0502040204020203" pitchFamily="34" charset="0"/>
              </a:rPr>
              <a:t>Семпла архитектура</a:t>
            </a:r>
            <a:endParaRPr lang="bg-BG" sz="2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A5E5A7-129E-0C79-7C06-42C7BAD29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234" y="0"/>
            <a:ext cx="345076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26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E08CF0D9-5DF9-2EA0-870F-AAAF3DF9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C7D4B6C5-A323-E238-AD56-2E4BC05877A8}"/>
              </a:ext>
            </a:extLst>
          </p:cNvPr>
          <p:cNvSpPr/>
          <p:nvPr/>
        </p:nvSpPr>
        <p:spPr>
          <a:xfrm>
            <a:off x="3777520" y="3110955"/>
            <a:ext cx="5064695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454B7FC5-C31A-27CE-3E17-845AECB39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907" y="2207205"/>
            <a:ext cx="7242717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b="1" dirty="0">
                <a:latin typeface="Bahnschrift SemiBold SemiConden" panose="020B0502040204020203" pitchFamily="34" charset="0"/>
              </a:rPr>
              <a:t>Сигурност:</a:t>
            </a:r>
            <a:r>
              <a:rPr lang="ru-RU" dirty="0">
                <a:latin typeface="Bahnschrift SemiBold SemiConden" panose="020B0502040204020203" pitchFamily="34" charset="0"/>
              </a:rPr>
              <a:t> </a:t>
            </a:r>
            <a:br>
              <a:rPr lang="ru-RU" dirty="0">
                <a:latin typeface="Bahnschrift SemiBold SemiConden" panose="020B0502040204020203" pitchFamily="34" charset="0"/>
              </a:rPr>
            </a:br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Потребителска</a:t>
            </a:r>
            <a:r>
              <a:rPr lang="ru-RU" dirty="0">
                <a:latin typeface="Bahnschrift SemiBold SemiConden" panose="020B0502040204020203" pitchFamily="34" charset="0"/>
              </a:rPr>
              <a:t> оторизация и защита</a:t>
            </a:r>
            <a:br>
              <a:rPr lang="ru-RU" dirty="0">
                <a:latin typeface="Bahnschrift SemiBold SemiConden" panose="020B0502040204020203" pitchFamily="34" charset="0"/>
              </a:rPr>
            </a:br>
            <a:endParaRPr lang="bg-BG" dirty="0">
              <a:latin typeface="Bahnschrift SemiBold SemiConden" panose="020B0502040204020203" pitchFamily="34" charset="0"/>
            </a:endParaRP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F012BAC0-27BD-EF4A-4C73-B9E2400285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376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964A5FA-6916-A3D2-2A1F-A5A5906B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>
            <a:extLst>
              <a:ext uri="{FF2B5EF4-FFF2-40B4-BE49-F238E27FC236}">
                <a16:creationId xmlns:a16="http://schemas.microsoft.com/office/drawing/2014/main" id="{B8E0E645-4E62-D838-0479-313D00B8CB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g-BG" altLang="bg-BG" sz="2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Задачи:</a:t>
            </a:r>
            <a:r>
              <a:rPr lang="bg-BG" altLang="bg-BG" sz="2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 Реазлизация на оторизация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775C739-9FB0-8D60-8139-4079059C1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17816"/>
            <a:ext cx="560651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Процес</a:t>
            </a:r>
            <a:r>
              <a:rPr lang="bg-BG" altLang="bg-BG" sz="1800" b="1" u="sng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ът включваше: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bg-BG" altLang="bg-BG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Реализация на модули </a:t>
            </a: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както за </a:t>
            </a:r>
            <a:r>
              <a:rPr lang="en-US" altLang="bg-BG" sz="1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Signup page, </a:t>
            </a:r>
            <a:r>
              <a:rPr lang="bg-BG" altLang="bg-BG" sz="1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така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и за </a:t>
            </a:r>
            <a:r>
              <a:rPr lang="en-US" altLang="bg-BG" sz="1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Login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Валидацията на данните на потребителя се осъществява чрез</a:t>
            </a:r>
            <a:r>
              <a:rPr kumimoji="0" lang="bg-BG" altLang="bg-BG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</a:t>
            </a:r>
            <a:endParaRPr lang="bg-BG" altLang="bg-BG" sz="1800" dirty="0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в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градени механизми за проверка на </a:t>
            </a: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в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ходните данни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(регулярни изрази и логически проверки).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bg-BG" altLang="bg-BG" sz="1800" dirty="0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Главната цел е удобство и </a:t>
            </a: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п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ерсонализация на изгледа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на потребителя, както и защита на локалната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конфигурация за всеки администратор.</a:t>
            </a:r>
          </a:p>
        </p:txBody>
      </p:sp>
    </p:spTree>
    <p:extLst>
      <p:ext uri="{BB962C8B-B14F-4D97-AF65-F5344CB8AC3E}">
        <p14:creationId xmlns:p14="http://schemas.microsoft.com/office/powerpoint/2010/main" val="1950468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C15F630A-782D-C724-676F-D87F0996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0E7E7A1C-CD18-D086-4AD6-344DE73B8E7B}"/>
              </a:ext>
            </a:extLst>
          </p:cNvPr>
          <p:cNvSpPr/>
          <p:nvPr/>
        </p:nvSpPr>
        <p:spPr>
          <a:xfrm>
            <a:off x="5216576" y="3110955"/>
            <a:ext cx="3625639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6E0FCE36-7110-86A1-CE40-BEEAB8FB8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907" y="2207205"/>
            <a:ext cx="7242717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b="1" dirty="0">
                <a:latin typeface="Bahnschrift SemiBold SemiConden" panose="020B0502040204020203" pitchFamily="34" charset="0"/>
              </a:rPr>
              <a:t>Визуализация на </a:t>
            </a:r>
            <a:r>
              <a:rPr lang="ru-RU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ресурсите</a:t>
            </a:r>
            <a:br>
              <a:rPr lang="ru-RU" dirty="0">
                <a:latin typeface="Bahnschrift SemiBold SemiConden" panose="020B0502040204020203" pitchFamily="34" charset="0"/>
              </a:rPr>
            </a:br>
            <a:endParaRPr lang="bg-BG" dirty="0">
              <a:latin typeface="Bahnschrift SemiBold SemiConden" panose="020B0502040204020203" pitchFamily="34" charset="0"/>
            </a:endParaRP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98971957-4E76-7AE3-57E5-B626CDA3C61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8819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01AB8DCE-4FEB-14E7-5183-7C2BFF6A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>
            <a:extLst>
              <a:ext uri="{FF2B5EF4-FFF2-40B4-BE49-F238E27FC236}">
                <a16:creationId xmlns:a16="http://schemas.microsoft.com/office/drawing/2014/main" id="{AFDFF804-A299-7774-2B1B-3BC52A655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hnschrift SemiBold SemiConden" panose="020B0502040204020203" pitchFamily="34" charset="0"/>
              </a:rPr>
              <a:t>Визуализация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85F2D-7C1A-CA2C-3EB6-81E47ADDA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39" y="659579"/>
            <a:ext cx="45368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Диаграми: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Използвахме и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нтерактивни „Donut“ чартове за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представяне на разпределението между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типове данни (напр. Docs vs Images).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E75736-19DE-1DA7-E5A4-0221D11A0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39" y="2900910"/>
            <a:ext cx="8389620" cy="19125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9D6E876-3E2E-1496-A05E-4F4CCD03D4DB}"/>
              </a:ext>
            </a:extLst>
          </p:cNvPr>
          <p:cNvSpPr txBox="1"/>
          <p:nvPr/>
        </p:nvSpPr>
        <p:spPr>
          <a:xfrm>
            <a:off x="4273127" y="1715975"/>
            <a:ext cx="4803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Детайли:</a:t>
            </a:r>
            <a:r>
              <a:rPr kumimoji="0" lang="bg-BG" altLang="bg-BG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Имплементирахме д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иректно показване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на общия обем (MB) и пътя до директорията.</a:t>
            </a:r>
          </a:p>
        </p:txBody>
      </p:sp>
    </p:spTree>
    <p:extLst>
      <p:ext uri="{BB962C8B-B14F-4D97-AF65-F5344CB8AC3E}">
        <p14:creationId xmlns:p14="http://schemas.microsoft.com/office/powerpoint/2010/main" val="157479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C7EE5326-BD35-AC67-AE22-5CDC8346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513C7AD5-FF89-CD4E-9D7A-C248B3EE0640}"/>
              </a:ext>
            </a:extLst>
          </p:cNvPr>
          <p:cNvSpPr/>
          <p:nvPr/>
        </p:nvSpPr>
        <p:spPr>
          <a:xfrm>
            <a:off x="4264702" y="3110955"/>
            <a:ext cx="4577514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5FB090E3-1566-3480-C046-0940EFEC4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907" y="2207205"/>
            <a:ext cx="7242717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bg-BG" dirty="0">
                <a:latin typeface="Bahnschrift SemiBold SemiConden" panose="020B0502040204020203" pitchFamily="34" charset="0"/>
              </a:rPr>
              <a:t>Функционално тестване </a:t>
            </a:r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и стабилност</a:t>
            </a:r>
            <a:br>
              <a:rPr lang="bg-BG" dirty="0">
                <a:latin typeface="Bahnschrift SemiBold SemiConden" panose="020B0502040204020203" pitchFamily="34" charset="0"/>
              </a:rPr>
            </a:br>
            <a:br>
              <a:rPr lang="ru-RU" dirty="0">
                <a:latin typeface="Bahnschrift SemiBold SemiConden" panose="020B0502040204020203" pitchFamily="34" charset="0"/>
              </a:rPr>
            </a:br>
            <a:endParaRPr lang="bg-BG" dirty="0">
              <a:latin typeface="Bahnschrift SemiBold SemiConden" panose="020B0502040204020203" pitchFamily="34" charset="0"/>
            </a:endParaRP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14144149-810D-07CC-5A3E-26A93CDF974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1320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6ADEA1A-C121-6387-7F00-B7B8366F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B395EC-92AC-1B68-3243-5A5BEEEF3D06}"/>
              </a:ext>
            </a:extLst>
          </p:cNvPr>
          <p:cNvSpPr txBox="1"/>
          <p:nvPr/>
        </p:nvSpPr>
        <p:spPr>
          <a:xfrm>
            <a:off x="264816" y="429993"/>
            <a:ext cx="73418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altLang="bg-BG" sz="26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Тестване</a:t>
            </a:r>
            <a:endParaRPr lang="bg-BG" sz="2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C1F3BA1-F243-FBD9-F813-73A8A9157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6" y="1162538"/>
            <a:ext cx="457208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Функционални тестове, </a:t>
            </a: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включващи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п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отвърждаване на коректния запис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данни в SQLite базата.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bg-BG" altLang="bg-BG" sz="1800" b="1" u="sng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Визуални</a:t>
            </a: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тестове</a:t>
            </a: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, които включват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о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ценка на удобството (UX) от потребителя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и скоростта на превключване между екраните.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Резултат</a:t>
            </a:r>
            <a:r>
              <a:rPr lang="bg-BG" altLang="bg-BG" sz="1800" b="1" u="sng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ност</a:t>
            </a:r>
            <a:r>
              <a:rPr lang="bg-BG" altLang="bg-BG" sz="1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, която</a:t>
            </a: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се стреми към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с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табилна работа </a:t>
            </a:r>
            <a:r>
              <a:rPr lang="bg-BG" altLang="bg-BG" sz="1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и 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без критични грешки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при различни сценарии.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EBE13-65BA-AE4C-9B6D-63E383540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234" y="0"/>
            <a:ext cx="345076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27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A685790C-3B9B-8FAA-155A-ECF00304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367AD66D-E150-44CA-D039-AD35972B7E8B}"/>
              </a:ext>
            </a:extLst>
          </p:cNvPr>
          <p:cNvSpPr/>
          <p:nvPr/>
        </p:nvSpPr>
        <p:spPr>
          <a:xfrm>
            <a:off x="2743816" y="3110955"/>
            <a:ext cx="6098400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DA091844-CA01-D6FF-5890-E2C98FF1E9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1347" y="2272155"/>
            <a:ext cx="7242717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b="1" dirty="0">
                <a:latin typeface="Bahnschrift SemiBold SemiConden" panose="020B0502040204020203" pitchFamily="34" charset="0"/>
              </a:rPr>
              <a:t>Развитие:</a:t>
            </a:r>
            <a:r>
              <a:rPr lang="ru-RU" dirty="0">
                <a:latin typeface="Bahnschrift SemiBold SemiConden" panose="020B0502040204020203" pitchFamily="34" charset="0"/>
              </a:rPr>
              <a:t> </a:t>
            </a:r>
            <a:br>
              <a:rPr lang="ru-RU" dirty="0">
                <a:latin typeface="Bahnschrift SemiBold SemiConden" panose="020B0502040204020203" pitchFamily="34" charset="0"/>
              </a:rPr>
            </a:br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Мобилна версия и </a:t>
            </a:r>
            <a:b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dirty="0">
                <a:latin typeface="Bahnschrift SemiBold SemiConden" panose="020B0502040204020203" pitchFamily="34" charset="0"/>
              </a:rPr>
              <a:t>реално време</a:t>
            </a:r>
            <a:br>
              <a:rPr lang="ru-RU" dirty="0">
                <a:latin typeface="Bahnschrift SemiBold SemiConden" panose="020B0502040204020203" pitchFamily="34" charset="0"/>
              </a:rPr>
            </a:br>
            <a:br>
              <a:rPr lang="bg-BG" dirty="0">
                <a:latin typeface="Bahnschrift SemiBold SemiConden" panose="020B0502040204020203" pitchFamily="34" charset="0"/>
              </a:rPr>
            </a:br>
            <a:br>
              <a:rPr lang="ru-RU" dirty="0">
                <a:latin typeface="Bahnschrift SemiBold SemiConden" panose="020B0502040204020203" pitchFamily="34" charset="0"/>
              </a:rPr>
            </a:br>
            <a:endParaRPr lang="bg-BG" dirty="0">
              <a:latin typeface="Bahnschrift SemiBold SemiConden" panose="020B0502040204020203" pitchFamily="34" charset="0"/>
            </a:endParaRP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B3E15D61-3237-6FD1-3B2D-F6C27614304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8633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F337F65-3C65-A1D4-D887-6CBA3FEA9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>
            <a:extLst>
              <a:ext uri="{FF2B5EF4-FFF2-40B4-BE49-F238E27FC236}">
                <a16:creationId xmlns:a16="http://schemas.microsoft.com/office/drawing/2014/main" id="{332DFDC7-21A9-8E26-2B8A-D6AE0DB93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g-BG" altLang="bg-BG" sz="2800" b="1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Бъдещи планове</a:t>
            </a:r>
            <a:endParaRPr lang="bg-BG" altLang="bg-BG" sz="2800" dirty="0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9502B6-8932-AD54-9533-16392E01B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76" y="933895"/>
            <a:ext cx="44424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API Интеграция:</a:t>
            </a:r>
            <a:r>
              <a:rPr kumimoji="0" lang="bg-BG" altLang="bg-BG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Възможност за отдалечено следене на сървъри през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HTTP/WebSockets.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Мултиплатформеност:</a:t>
            </a:r>
            <a:r>
              <a:rPr kumimoji="0" lang="bg-BG" altLang="bg-BG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Портиране към мобилни устройства (Android/iOS) чрез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споделяне на KMP ядрото.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Аналитичен модул: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Генерирането на автоматични доклади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за заетостта на ресурсите.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D85D0-9897-91CE-1DDB-266E7B9EE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333" y="1060423"/>
            <a:ext cx="4415067" cy="2660251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  <a:reflection blurRad="6350" stA="50000" endA="275" endPos="40000" dist="1016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55581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DACEACDA-DB2B-A31D-8BD2-052D2EA24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1863766B-0F69-CB3B-C9B7-5B6301AA04C8}"/>
              </a:ext>
            </a:extLst>
          </p:cNvPr>
          <p:cNvSpPr/>
          <p:nvPr/>
        </p:nvSpPr>
        <p:spPr>
          <a:xfrm>
            <a:off x="4984230" y="3110955"/>
            <a:ext cx="3857986" cy="968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0E1A193A-0474-7197-F630-AE015A985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2307" y="2207205"/>
            <a:ext cx="7242717" cy="18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bg-BG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Обобщение </a:t>
            </a:r>
            <a:br>
              <a:rPr lang="bg-BG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</a:br>
            <a:r>
              <a:rPr lang="bg-BG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на проекта</a:t>
            </a:r>
            <a:br>
              <a:rPr lang="ru-RU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</a:br>
            <a:br>
              <a:rPr lang="ru-RU" dirty="0">
                <a:latin typeface="Bahnschrift SemiBold SemiConden" panose="020B0502040204020203" pitchFamily="34" charset="0"/>
              </a:rPr>
            </a:br>
            <a:br>
              <a:rPr lang="bg-BG" dirty="0">
                <a:latin typeface="Bahnschrift SemiBold SemiConden" panose="020B0502040204020203" pitchFamily="34" charset="0"/>
              </a:rPr>
            </a:br>
            <a:br>
              <a:rPr lang="ru-RU" dirty="0">
                <a:latin typeface="Bahnschrift SemiBold SemiConden" panose="020B0502040204020203" pitchFamily="34" charset="0"/>
              </a:rPr>
            </a:br>
            <a:endParaRPr lang="bg-BG" dirty="0">
              <a:latin typeface="Bahnschrift SemiBold SemiConden" panose="020B0502040204020203" pitchFamily="34" charset="0"/>
            </a:endParaRPr>
          </a:p>
        </p:txBody>
      </p:sp>
      <p:sp>
        <p:nvSpPr>
          <p:cNvPr id="215" name="Google Shape;215;p31">
            <a:extLst>
              <a:ext uri="{FF2B5EF4-FFF2-40B4-BE49-F238E27FC236}">
                <a16:creationId xmlns:a16="http://schemas.microsoft.com/office/drawing/2014/main" id="{354F8D87-3444-1C88-5FD1-8497792FC7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275975"/>
            <a:ext cx="1823224" cy="13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bg-BG" dirty="0"/>
              <a:t>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2004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AC4DC3E1-0910-C9E0-6BD6-E83FFE4D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>
            <a:extLst>
              <a:ext uri="{FF2B5EF4-FFF2-40B4-BE49-F238E27FC236}">
                <a16:creationId xmlns:a16="http://schemas.microsoft.com/office/drawing/2014/main" id="{7DC6833B-43D1-D79D-BA54-1D74688D16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540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ahnschrift SemiBold SemiConden" panose="020B0502040204020203" pitchFamily="34" charset="0"/>
              </a:rPr>
              <a:t>Заключение</a:t>
            </a:r>
            <a:endParaRPr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A61538-3E10-1DE6-CDD7-5CDB354F3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39" y="1380688"/>
            <a:ext cx="741741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Резултат:</a:t>
            </a:r>
            <a:r>
              <a:rPr kumimoji="0" lang="bg-BG" altLang="bg-BG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ClusterView е почти завършено, надеждно и модерно решение за мониторинг.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 SemiConden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Извод: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Използваните технологии (Kotlin, Compose) доказват своята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 SemiConden" panose="020B0502040204020203" pitchFamily="34" charset="0"/>
              </a:rPr>
              <a:t>ефективност за изграждане на професионален десктоп софтуер,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sz="18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който не само може да функционира като стабилно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sz="18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самостоятелно приложение, но и лесно може да бъде мащабиран към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sz="1800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мобилни платформи в бъдеще.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Bahnschrift SemiBold SemiConden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B6D50-7EEB-E7CD-C770-1D79AC5F7A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0"/>
            <a:ext cx="9144000" cy="510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1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D5CC470-2DA9-E4BC-918F-2E63D8F1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>
            <a:extLst>
              <a:ext uri="{FF2B5EF4-FFF2-40B4-BE49-F238E27FC236}">
                <a16:creationId xmlns:a16="http://schemas.microsoft.com/office/drawing/2014/main" id="{7F7C4EFD-7FC8-DC04-1CD6-40F27C0019A2}"/>
              </a:ext>
            </a:extLst>
          </p:cNvPr>
          <p:cNvSpPr/>
          <p:nvPr/>
        </p:nvSpPr>
        <p:spPr>
          <a:xfrm>
            <a:off x="571500" y="2003400"/>
            <a:ext cx="8001000" cy="1136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7">
            <a:extLst>
              <a:ext uri="{FF2B5EF4-FFF2-40B4-BE49-F238E27FC236}">
                <a16:creationId xmlns:a16="http://schemas.microsoft.com/office/drawing/2014/main" id="{350A2A49-3595-565D-91BC-2A88E5C305C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53440" y="1425884"/>
            <a:ext cx="7437120" cy="15361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bg-BG" sz="4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Имате ли въпроси?</a:t>
            </a:r>
            <a:endParaRPr sz="4400" dirty="0">
              <a:solidFill>
                <a:schemeClr val="bg1"/>
              </a:solidFill>
              <a:latin typeface="Bahnschrift SemiBold SemiConden" panose="020B0502040204020203" pitchFamily="34" charset="0"/>
              <a:sym typeface="Zalando Sans SemiExpand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35623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C762349-DCF6-CD2C-7A78-11D807E5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>
            <a:extLst>
              <a:ext uri="{FF2B5EF4-FFF2-40B4-BE49-F238E27FC236}">
                <a16:creationId xmlns:a16="http://schemas.microsoft.com/office/drawing/2014/main" id="{0073F704-2376-5654-E84E-8BA142C088B3}"/>
              </a:ext>
            </a:extLst>
          </p:cNvPr>
          <p:cNvSpPr/>
          <p:nvPr/>
        </p:nvSpPr>
        <p:spPr>
          <a:xfrm>
            <a:off x="571500" y="2003400"/>
            <a:ext cx="8001000" cy="1136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7">
            <a:extLst>
              <a:ext uri="{FF2B5EF4-FFF2-40B4-BE49-F238E27FC236}">
                <a16:creationId xmlns:a16="http://schemas.microsoft.com/office/drawing/2014/main" id="{42650BB9-2452-8C5A-E1D7-C6F63D8856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28700" y="1433504"/>
            <a:ext cx="7185660" cy="15361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sz="4400" dirty="0">
                <a:solidFill>
                  <a:schemeClr val="bg1"/>
                </a:solidFill>
                <a:latin typeface="Bahnschrift SemiBold SemiConden" panose="020B0502040204020203" pitchFamily="34" charset="0"/>
                <a:sym typeface="Zalando Sans SemiExpanded Medium"/>
              </a:rPr>
              <a:t>Благодарим за Ви вниманието!</a:t>
            </a:r>
            <a:r>
              <a:rPr lang="en" sz="4400" dirty="0">
                <a:solidFill>
                  <a:schemeClr val="bg1"/>
                </a:solidFill>
                <a:latin typeface="Bahnschrift SemiBold SemiConden" panose="020B0502040204020203" pitchFamily="34" charset="0"/>
                <a:sym typeface="Zalando Sans SemiExpanded Medium"/>
              </a:rPr>
              <a:t> </a:t>
            </a:r>
            <a:endParaRPr sz="4400" dirty="0">
              <a:solidFill>
                <a:schemeClr val="bg1"/>
              </a:solidFill>
              <a:latin typeface="Bahnschrift SemiBold SemiConden" panose="020B0502040204020203" pitchFamily="34" charset="0"/>
              <a:sym typeface="Zalando Sans SemiExpanded Medium"/>
            </a:endParaRPr>
          </a:p>
        </p:txBody>
      </p:sp>
      <p:sp>
        <p:nvSpPr>
          <p:cNvPr id="6" name="Google Shape;391;p40">
            <a:extLst>
              <a:ext uri="{FF2B5EF4-FFF2-40B4-BE49-F238E27FC236}">
                <a16:creationId xmlns:a16="http://schemas.microsoft.com/office/drawing/2014/main" id="{A7FE1C9D-24D9-4B3E-039C-818F3C43EDAB}"/>
              </a:ext>
            </a:extLst>
          </p:cNvPr>
          <p:cNvSpPr txBox="1"/>
          <p:nvPr/>
        </p:nvSpPr>
        <p:spPr>
          <a:xfrm>
            <a:off x="4992300" y="48831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</a:t>
            </a:r>
            <a:r>
              <a:rPr lang="en" sz="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: This presentation template was created by </a:t>
            </a:r>
            <a:r>
              <a:rPr lang="en" sz="600" b="1" u="sng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Slidesgo</a:t>
            </a:r>
            <a:endParaRPr sz="600" b="1" u="sng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319032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FFFFFF"/>
      </a:dk1>
      <a:lt1>
        <a:srgbClr val="132763"/>
      </a:lt1>
      <a:dk2>
        <a:srgbClr val="FFFFFF"/>
      </a:dk2>
      <a:lt2>
        <a:srgbClr val="FFFFFF"/>
      </a:lt2>
      <a:accent1>
        <a:srgbClr val="F8C27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654</Words>
  <Application>Microsoft Office PowerPoint</Application>
  <PresentationFormat>On-screen Show (16:9)</PresentationFormat>
  <Paragraphs>134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Anaheim</vt:lpstr>
      <vt:lpstr>Zalando Sans SemiExpanded</vt:lpstr>
      <vt:lpstr>Bahnschrift SemiBold SemiConden</vt:lpstr>
      <vt:lpstr>Albert Sans</vt:lpstr>
      <vt:lpstr>Nunito Light</vt:lpstr>
      <vt:lpstr>Open Sans</vt:lpstr>
      <vt:lpstr>Montserrat Medium</vt:lpstr>
      <vt:lpstr>Raleway</vt:lpstr>
      <vt:lpstr>Zalando Sans SemiExpanded Medium</vt:lpstr>
      <vt:lpstr>Open Sans Light</vt:lpstr>
      <vt:lpstr>Bebas Neue</vt:lpstr>
      <vt:lpstr>Arial</vt:lpstr>
      <vt:lpstr>Project Roadmaps by Slidesgo</vt:lpstr>
      <vt:lpstr>ClusterView  ВИЗУАЛЕН ФАЙЛОВ ОРГАНИЗАТОР</vt:lpstr>
      <vt:lpstr>Съдържание</vt:lpstr>
      <vt:lpstr>Нужда от ефективен локален мониторинг</vt:lpstr>
      <vt:lpstr>PowerPoint Presentation</vt:lpstr>
      <vt:lpstr>Създаване на бързо решение</vt:lpstr>
      <vt:lpstr>Задачи: Проектиране на интуитивна архитектура.</vt:lpstr>
      <vt:lpstr>Използвани технологии</vt:lpstr>
      <vt:lpstr>Избрани технологии</vt:lpstr>
      <vt:lpstr>Защо точно тези технологии?</vt:lpstr>
      <vt:lpstr> Архитектура на приложението</vt:lpstr>
      <vt:lpstr>PowerPoint Presentation</vt:lpstr>
      <vt:lpstr> Сигурност:  Потребителска оторизация и защита </vt:lpstr>
      <vt:lpstr>Задачи: Реазлизация на оторизация</vt:lpstr>
      <vt:lpstr> Визуализация на ресурсите </vt:lpstr>
      <vt:lpstr>Визуализация</vt:lpstr>
      <vt:lpstr> Функционално тестване и стабилност  </vt:lpstr>
      <vt:lpstr>PowerPoint Presentation</vt:lpstr>
      <vt:lpstr> Развитие:  Мобилна версия и  реално време   </vt:lpstr>
      <vt:lpstr>Бъдещи планове</vt:lpstr>
      <vt:lpstr> Обобщение  на проекта    </vt:lpstr>
      <vt:lpstr>Заключение</vt:lpstr>
      <vt:lpstr>Имате ли въпроси?</vt:lpstr>
      <vt:lpstr>Благодарим за Ви вниманието!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Георги Георгиев</dc:creator>
  <cp:lastModifiedBy>Георги Георгиев</cp:lastModifiedBy>
  <cp:revision>2</cp:revision>
  <dcterms:modified xsi:type="dcterms:W3CDTF">2026-03-06T08:16:10Z</dcterms:modified>
</cp:coreProperties>
</file>